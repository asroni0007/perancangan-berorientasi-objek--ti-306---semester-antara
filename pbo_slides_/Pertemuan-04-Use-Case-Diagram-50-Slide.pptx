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72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F3D0"/>
                </a:solidFill>
              </a:rPr>
              <a:t>Pertemuan 04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6355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Use Case Diagram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F2FE"/>
                </a:solidFill>
              </a:rPr>
              <a:t>Perancangan Berorientasi Objek • TI-306 • Semester Antara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62636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Aktor, use case, include/extend, text-to-diagram, validasi AI</a:t>
            </a:r>
            <a:endParaRPr lang="en-US" sz="1700" dirty="0"/>
          </a:p>
        </p:txBody>
      </p:sp>
      <p:pic>
        <p:nvPicPr>
          <p:cNvPr id="6" name="Image 0" descr="/mnt/data/pbo_slides_50/assets/useca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52360" y="1325880"/>
            <a:ext cx="406908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FDBFE"/>
                </a:solidFill>
              </a:rPr>
              <a:t>Studi kasus: SIPUSTAKA — Sistem Perpustakaan Digital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Pemetaan RPS dan CPMK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CPMK21.4: Aktor, use case, include/extend, text-to-diagram, validasi AI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mengikuti struktur 16 minggu RPS TI-306.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Artefak praktikum terhubung dengan repository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Mahasiswa membuat baseline manual sebelum memakai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Hasil akhir harus memiliki traceability ke requirement.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Capaian Pembelajaran Pertemuan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Menjelaskan konsep inti: Use Case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Menghubungkan konsep dengan studi kasus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Membaca atau menjalankan kode Node.js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Membandingkan rancangan manual, draf AI, dan final terverifikasi.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Menyusun catatan evaluasi kritis output AI.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Sesi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Pembukaan dan konteks Use Case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Mini lecture konsep dan notasi.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Studi kasus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Demo kode dan diagram-as-code.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Latihan individu/kelompok.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Refleksi, kuis, dan penugasan.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100–170 Menit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15 menit: apersepsi dan pre-test cepat.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35 menit: konsep inti dan contoh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35 menit: pembacaan diagram/kode.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45 menit: praktik studio/lab.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25 menit: review, refleksi, dan tindak lanjut.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116F5D"/>
                </a:solidFill>
              </a:rPr>
              <a:t>Durasi dapat disesuaikan untuk jadwal Semester Antara.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Visual Materi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6/50</a:t>
            </a:r>
            <a:endParaRPr lang="en-US" sz="850" dirty="0"/>
          </a:p>
        </p:txBody>
      </p:sp>
      <p:pic>
        <p:nvPicPr>
          <p:cNvPr id="6" name="Image 0" descr="/mnt/data/pbo_slides_50/assets/useca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143000"/>
            <a:ext cx="1033272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897880"/>
            <a:ext cx="10652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27386"/>
                </a:solidFill>
              </a:rPr>
              <a:t>Preview diagram/proses yang digunakan sebagai pengantar visual.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 Kasus SIPUSTAKA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Sistem perpustakaan digital untuk pencarian dan peminjaman buku.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Aktor utama: anggota dan pustakawan.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Objek utama: Buku, Anggota, Peminjaman, Katalog, Notifikasi.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Skenario utama: ajukan peminjaman dan validasi ketersediaan.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Skenario ini berkembang dari requirement sampai SDD.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Istilah Kunci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Use Case Diagram memodelkan fungsi sistem dari sudut pandang aktor.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Aktor dapat berupa manusia, sistem eksternal, atau perangkat lain.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Relasi include dipakai untuk perilaku yang wajib dipanggil ulang.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Relasi extend dipakai untuk perilaku opsional/kondisional.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Kesalahan umum: memasukkan proses internal sebagai use case.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116F5D"/>
                </a:solidFill>
              </a:rPr>
              <a:t>Gunakan istilah ini saat menjelaskan rancangan dan kode.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1: Use Case Diagram memodelkan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Use Case Diagram memodelkan fungsi sistem dari sudut pandang aktor.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2: Aktor dapat berupa manusia,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10/50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Aktor dapat berupa manusia, sistem eksternal, atau perangkat lain.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3: Relasi include dipakai untuk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11/50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Relasi include dipakai untuk perilaku yang wajib dipanggil ulang.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4: Relasi extend dipakai untuk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12/50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Relasi extend dipakai untuk perilaku opsional/kondisional.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5: Kesalahan umum: memasukkan proses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13/50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Kesalahan umum: memasukkan proses internal sebagai use case.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Pertanyaan Pemantik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14/50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Masalah apa yang diselesaikan pada pertemuan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Aktor/objek apa yang terlibat?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Keputusan desain apa yang paling kritis?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Bagian mana yang mudah salah jika hanya mengandalkan AI?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Bukti apa yang menunjukkan rancangan sudah konsisten?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Artefak yang Dihasilkan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15/50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Catatan konsep dan asumsi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JavaScript yang bisa dijalankan.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 atau model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Evaluasi output AI bila AI digunakan.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Refleksi dan checklist mandiri.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Menjalankan: Persiapan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16/50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terminal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https://github.com/asroni0007/Perancangan-Berorientasi-Objek--TI-306---Semester-Antara.git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Perancangan-Berorientasi-Objek--TI-306---Semester-Antara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-v   # pastikan Node.js &gt;= 18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check</a:t>
            </a:r>
            <a:endParaRPr lang="en-US" sz="12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Menjalankan: Pertemuan 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17/50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terminal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week04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week04-use-case-diagram/index.js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check</a:t>
            </a:r>
            <a:endParaRPr lang="en-US" sz="12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Folder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18/50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repository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week04-use-case-diagram/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README.md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index.js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diagrams/*.mmd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diagrams/*.puml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 untuk evaluasi AI dan traceability</a:t>
            </a:r>
            <a:endParaRPr lang="en-US" sz="12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README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19/50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markdown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Minggu 4 — Use Case Diagram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**Terkait CPMK:** 21.4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Tujuan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Memodelkan aktor dan fungsi sistem, membangkitkan draf text-to-diagram, lalu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memvalidasi hasil AI terhadap requirement.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Artefak Diagram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`diagrams/use-case-reference.mmd`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`diagrams/use-case-reference.puml`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 Mermaid menggunakan flowchart agar mudah dirender pada editor Mermaid.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 PlantUML menggunakan notasi use case UML.</a:t>
            </a:r>
            <a:endParaRPr lang="en-US" sz="12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Kode JavaScript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20/50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Minggu 4 — Dari Use Case Diagram ke Kode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Use case publik direalisasikan melalui fasad SistemPerpustakaan.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Buku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constructor(isbn, judul, kategori, jumlahEksemplar)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this.isbn = isbn;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this.judul = judul;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this.kategori = kategori;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this.jumlahEksemplar = jumlahEksemplar;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this.eksemplarTersedia = jumlahEksemplar;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Anggota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constructor(id, nama)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this.id = id;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this.nama = nama;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this.tunggakan = 0;</a:t>
            </a:r>
            <a:endParaRPr lang="en-US" sz="12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Kode Lanjutan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21/50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Peminjaman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constructor(id, buku, anggota, tanggalPinjam)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this.id = id;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this.buku = buku;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this.anggota = anggota;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this.tanggalPinjam = tanggalPinjam;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this.tanggalJatuhTempo = new Date(tanggalPinjam);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this.tanggalJatuhTempo.setDate(this.tanggalJatuhTempo.getDate() + 7);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this.jumlahPerpanjangan = 0;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this.status = "DIPINJAM";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SistemPerpustakaan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#bukuList = [];</a:t>
            </a:r>
            <a:endParaRPr lang="en-US" sz="12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yang Diamati Saat Kode Berjalan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22/50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Input, proses, dan output yang muncul di terminal.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Class/function/module yang bertanggung jawab.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Relasi kode terhadap diagram atau requirement.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Validasi kondisi normal dan kondisi gagal.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Perbedaan rancangan ideal dan implementasi sederhana.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Cepat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23/50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Pastikan berada di root repository.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Pastikan versi Node.js minimal 18.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npm run check untuk mengecek seluruh contoh.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Baca pesan error dari baris paling atas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Uji perubahan kecil sebelum menambah fitur baru.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Kode Mermaid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24/50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mermaid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flowchart LR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Anggota["👤 Anggota"]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Pustakawan["👤 Pustakawan"]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subgraph SIPUSTAKA["SIPUSTAKA"]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UC1([Cari Buku])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UC2([Ajukan Peminjaman])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UC3([Kembalikan Buku])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UC4([Perpanjang Peminjaman])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UC5([Daftar Anggota])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UC6([Kelola Data Buku])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UC7([Validasi Ketersediaan dan Tunggakan])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Anggota --- UC1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Anggota --- UC2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Anggota --- UC3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Anggota --- UC4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Pustakawan --- UC5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Pustakawan --- UC6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UC2 -. include .-&gt; UC7</a:t>
            </a:r>
            <a:endParaRPr lang="en-US" sz="12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Diagram dari Mermaid/PlantUML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25/50</a:t>
            </a:r>
            <a:endParaRPr lang="en-US" sz="850" dirty="0"/>
          </a:p>
        </p:txBody>
      </p:sp>
      <p:pic>
        <p:nvPicPr>
          <p:cNvPr id="6" name="Image 0" descr="/mnt/data/pbo_slides_50/assets/useca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143000"/>
            <a:ext cx="1033272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897880"/>
            <a:ext cx="10652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27386"/>
                </a:solidFill>
              </a:rPr>
              <a:t>Gambar preview membantu membaca struktur sebelum mahasiswa merender ulang file .mmd/.puml.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Kode PlantUML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26/50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plantuml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@startuml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to right direction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skinparam packageStyle rectangle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actor Anggota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actor Pustakawan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rectangle SIPUSTAKA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usecase "Cari Buku" as UC1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usecase "Ajukan Peminjaman" as UC2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usecase "Kembalikan Buku" as UC3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usecase "Perpanjang Peminjaman" as UC4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usecase "Daftar Anggota" as UC5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usecase "Kelola Data Buku" as UC6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usecase "Validasi Ketersediaan\ndan Tunggakan" as UC7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Anggota --&gt; UC1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Anggota --&gt; UC2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Anggota --&gt; UC3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Anggota --&gt; UC4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Pustakawan --&gt; UC5</a:t>
            </a:r>
            <a:endParaRPr lang="en-US" sz="12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Merender Diagram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27/50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Mermaid: buka file .mmd di GitHub atau mermaid.live.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PlantUML: buka file .puml dengan plugin VS Code/IntelliJ atau PlantUML server.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Simpan hasil render sebagai PNG/SVG untuk laporan.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Bandingkan diagram final dengan baseline manual.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Lampirkan catatan koreksi terhadap draf AI.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vs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28/50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005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75E"/>
                </a:solidFill>
              </a:rPr>
              <a:t>Baseline Manual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09360" y="1005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6F5D"/>
                </a:solidFill>
              </a:rPr>
              <a:t>Draf 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50" dirty="0">
                <a:solidFill>
                  <a:srgbClr val="243447"/>
                </a:solidFill>
              </a:rPr>
              <a:t>Dibuat sebelum AI.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Berbasis requirement.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Memuat asumsi eksplisit.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Menunjukkan pemahaman pribadi.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Menjadi pembanding utama.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355080" y="150876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50" dirty="0">
                <a:solidFill>
                  <a:srgbClr val="243447"/>
                </a:solidFill>
              </a:rPr>
              <a:t>Digunakan sebagai alternatif.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Harus dicek notasi dan semantik.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Rawan halusinasi.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Tidak boleh langsung disalin.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Wajib dilampiri transparansi.</a:t>
            </a:r>
            <a:endParaRPr lang="en-US" sz="1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Prompt Aman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29/50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Buat draf Use Case Diagram untuk SIPUSTAKA berdasarkan requirement berikut.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Jangan menambahkan fitur yang tidak disebutkan.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Tandai setiap asumsi yang dibuat.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Gunakan notasi UML yang benar.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Berikan alasan desain dan potensi risiko.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Kerangka Evaluasi Output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30/50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Ketepatan semantik UML atau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Kelengkapan dan deteksi halusinasi.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Traceability ke requirement asli.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Implikasi keamanan dan kualitas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Transparansi alasan menerima/menolak saran AI.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 AI yang Perlu Diwaspadai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31/50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AI technical debt: kode/diagram diterima tanpa dipahami.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Prompt injection dari dokumen eksternal.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Kebocoran data atau kode institusi.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Permission creep pada AI Agent.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Skill atrophy karena terlalu bergantung pada AI.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 Mini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32/50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REQ-01 → use case/aktivitas/class/method terkait.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REQ-02 → skenario berhasil dan gagal.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REQ-03 → validasi, error handling, dan notifikasi.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REQ-04 → deployment atau layanan pendukung.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REQ-05 → pengujian dan dokumentasi.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Kesalahan Umum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33/50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Diagram terlihat rapi tetapi tidak sesuai requirement.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Nama class/object tidak konsisten antar artefak.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tidak mencerminkan relasi pada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Asumsi tidak dituliskan.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Tidak ada bukti bahwa hasil AI diverifikasi.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1: Baca Artefak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34/50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Buka README pertemuan ini.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perintah npm yang tersedia.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Catat output penting dari terminal.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Temukan bagian kode yang paling terkait dengan materi.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Tulis 3 pertanyaan klarifikasi untuk diskusi.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2: Ubah Skenario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35/50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Tambahkan satu aturan kecil pada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Perbarui diagram atau model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Perbarui kode secara minimal.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ulang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Catat dampak perubahan terhadap artefak lain.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3: Verifikasi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36/50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Minta AI membuat draf alternatif.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Bandingkan dengan baseline manual.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Tandai elemen yang salah, hilang, atau berlebihan.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Tulis alasan koreksi.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Simpan versi final terverifikasi.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37/50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Repository berhasil dijalankan.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Diagram/kode relevan sudah dibaca.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Baseline manual tersedia.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Draf AI dievaluasi bila digunakan.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Final terverifikasi dan siap dikumpulkan.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Rubrik Ringkas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38/50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Ketepatan konsep dan istilah: 25%.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Konsistensi requirement–diagram–kode: 30%.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Kualitas implementasi/praktik: 20%.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Evaluasi kritis AI: 15%.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Kerapian dokumentasi dan refleksi: 10%.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Kuis Cepat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39/50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Apa tujuan utama Use Case Diagram?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Artefak apa yang paling penting pada pertemuan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contoh kesalahan umum yang harus dihindari?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Bagaimana membuktikan traceability?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Bagaimana cara menjalankan kode pertemuan ini?</a:t>
            </a:r>
            <a:endParaRPr lang="en-US" sz="2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Diskusi Kelompok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40/50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Bagikan peran: analis, perancang diagram, programmer, reviewer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Gunakan satu requirement yang sama.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Bandingkan hasil antar kelompok.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Cari perbedaan asumsi dan dampaknya.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Sepakati perbaikan final.</a:t>
            </a:r>
            <a:endParaRPr 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Refleksi Individu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41/50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Konsep apa yang paling mudah dipahami?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Bagian mana yang masih membingungkan?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manfaat diagram untuk memahami kode?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risiko penggunaan AI pada materi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rencana perbaikan sebelum pertemuan berikutnya?</a:t>
            </a:r>
            <a:endParaRPr 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Penugasan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42/50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Selesaikan latihan pada README.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Kumpulkan diagram/kode sesuai format repository.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Lampirkan evaluasi AI bila menggunakan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Pastikan nama file jelas dan konsisten.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Siapkan 1 pertanyaan untuk pertemuan berikutnya.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Kriteria Pengumpulan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43/50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File utama sesuai folder minggu.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 dapat dibuka atau dirender.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berhasil dijalankan tanpa error fatal.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Ada catatan asumsi dan batasan.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Ada transparansi penggunaan AI.</a:t>
            </a:r>
            <a:endParaRPr lang="en-US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 Pertemuan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44/50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Topik: Use Case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CPMK: CPMK21.4.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Fokus: konsep, diagram/kode, dan evaluasi kritis.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Studi kasus: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Output: artefak final yang konsisten dan terdokumentasi.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Hubungan dengan Pertemuan Lain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45/50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Minggu sebelumnya menyediakan konteks dan artefak awal.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ini memperluas model atau implementasi.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berikutnya menguji konsistensi antar artefak.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Semua artefak menuju dokumen SDD dan presentasi final.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Traceability menjaga kesinambungan seluruh semester.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Dosen Saat Mengajar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46/50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Tampilkan tujuan dan artefak akhir.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Demo cara menjalankan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Tunjukkan diagram atau template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Berikan contoh evaluasi AI yang benar.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Akhiri dengan rubrik dan tenggat tugas.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Mahasiswa Sebelum Keluar Kelas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47/50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Saya bisa menjelaskan konsep utama.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bisa menjalankan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artefak yang harus dikumpulkan.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cara mengecek output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hubungan materi ini dengan SDD akhir.</a:t>
            </a:r>
            <a:endParaRPr 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Referensi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48/50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README repository praktikum TI-306.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DIAGRAMS.md untuk panduan Mermaid dan PlantUML.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AI-USAGE-POLICY.md untuk aturan penggunaan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Template transparansi, evaluasi output AI, dan traceability.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Dokumentasi resmi Mermaid/PlantUML sesuai kebutuhan.</a:t>
            </a:r>
            <a:endParaRPr 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 Tambahan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Use Case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49/50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Gunakan slide ini untuk menambahkan contoh lokal dari kelas.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tangkapan layar terminal jika diperlukan.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pertanyaan diskusi dari mahasiswa.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catatan dosen setelah pelaksanaan.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Pertahankan keterkaitan dengan RPS dan repository.</a:t>
            </a:r>
            <a:endParaRPr lang="en-US" sz="2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F3D0"/>
                </a:solidFill>
              </a:rPr>
              <a:t>Penutup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Pertemuan 04 selesai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514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E0F2FE"/>
                </a:solidFill>
              </a:rPr>
              <a:t>Pelajari konsep secara mandiri, jalankan kode, validasi diagram, dan gunakan AI secara kritis.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npm run week04  •  node week04-use-case-diagram/index.js  •  npm run check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04 • CPMK21.4 • Slide 50/50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Program Studi Teknologi Informasi UMY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4 - Use Case Diagram</dc:title>
  <dc:subject>TI-306 Perancangan Berorientasi Objek</dc:subject>
  <dc:creator>TI UMY</dc:creator>
  <cp:lastModifiedBy>TI UMY</cp:lastModifiedBy>
  <cp:revision>1</cp:revision>
  <dcterms:created xsi:type="dcterms:W3CDTF">2026-07-13T16:42:51Z</dcterms:created>
  <dcterms:modified xsi:type="dcterms:W3CDTF">2026-07-13T16:42:51Z</dcterms:modified>
</cp:coreProperties>
</file>