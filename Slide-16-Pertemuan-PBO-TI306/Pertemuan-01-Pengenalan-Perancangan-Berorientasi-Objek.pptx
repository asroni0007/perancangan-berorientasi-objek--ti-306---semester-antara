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274320"/>
            <a:ext cx="3840480" cy="6309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2000" b="1" dirty="0">
                <a:solidFill>
                  <a:srgbClr val="121D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566928" cy="566928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4" name="Image 0" descr="asset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776143"/>
            <a:ext cx="294803" cy="294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1872" y="6400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MENIT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4688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1  ·  SUB-CPMK 21.1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880360"/>
            <a:ext cx="8595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Pengenalan Perancangan Berorientasi Objek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Prosedural vs OOP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6172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Perancangan Berorientasi Objek (TI-306)  ·  Studi Kasus: SIPUSTAKA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SESI — 150 MENIT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6362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563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15568" y="150876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Pembukaan &amp; recap minggu lalu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892040" y="173659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9" name="Shape 6"/>
          <p:cNvSpPr/>
          <p:nvPr/>
        </p:nvSpPr>
        <p:spPr>
          <a:xfrm>
            <a:off x="4892040" y="1736598"/>
            <a:ext cx="408432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10" name="Text 7"/>
          <p:cNvSpPr/>
          <p:nvPr/>
        </p:nvSpPr>
        <p:spPr>
          <a:xfrm>
            <a:off x="11128248" y="171831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25704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2570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15568" y="220218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 &amp; konsep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892040" y="243001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4892040" y="2430018"/>
            <a:ext cx="1225296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16" name="Text 13"/>
          <p:cNvSpPr/>
          <p:nvPr/>
        </p:nvSpPr>
        <p:spPr>
          <a:xfrm>
            <a:off x="11128248" y="241173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295046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2950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15568" y="289560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&amp; code walkthrough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892040" y="312343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21" name="Shape 18"/>
          <p:cNvSpPr/>
          <p:nvPr/>
        </p:nvSpPr>
        <p:spPr>
          <a:xfrm>
            <a:off x="4892040" y="3123438"/>
            <a:ext cx="1429512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22" name="Text 19"/>
          <p:cNvSpPr/>
          <p:nvPr/>
        </p:nvSpPr>
        <p:spPr>
          <a:xfrm>
            <a:off x="11128248" y="310515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35'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364388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36438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115568" y="358902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 terbimbing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892040" y="381685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27" name="Shape 24"/>
          <p:cNvSpPr/>
          <p:nvPr/>
        </p:nvSpPr>
        <p:spPr>
          <a:xfrm>
            <a:off x="4892040" y="3816858"/>
            <a:ext cx="1837944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28" name="Text 25"/>
          <p:cNvSpPr/>
          <p:nvPr/>
        </p:nvSpPr>
        <p:spPr>
          <a:xfrm>
            <a:off x="11128248" y="379857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45'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48640" y="4337304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0" name="Text 27"/>
          <p:cNvSpPr/>
          <p:nvPr/>
        </p:nvSpPr>
        <p:spPr>
          <a:xfrm>
            <a:off x="548640" y="43373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115568" y="428244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mandiri &amp; tugas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892040" y="451027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33" name="Shape 30"/>
          <p:cNvSpPr/>
          <p:nvPr/>
        </p:nvSpPr>
        <p:spPr>
          <a:xfrm>
            <a:off x="4892040" y="4510278"/>
            <a:ext cx="816864" cy="237744"/>
          </a:xfrm>
          <a:prstGeom prst="roundRect">
            <a:avLst>
              <a:gd name="adj" fmla="val 19231"/>
            </a:avLst>
          </a:prstGeom>
          <a:solidFill>
            <a:srgbClr val="1B2A4A"/>
          </a:solidFill>
          <a:ln/>
        </p:spPr>
      </p:sp>
      <p:sp>
        <p:nvSpPr>
          <p:cNvPr id="34" name="Text 31"/>
          <p:cNvSpPr/>
          <p:nvPr/>
        </p:nvSpPr>
        <p:spPr>
          <a:xfrm>
            <a:off x="11128248" y="449199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548640" y="5030724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36" name="Text 33"/>
          <p:cNvSpPr/>
          <p:nvPr/>
        </p:nvSpPr>
        <p:spPr>
          <a:xfrm>
            <a:off x="548640" y="50307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115568" y="4975860"/>
            <a:ext cx="365760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&amp; penutup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4892040" y="5203698"/>
            <a:ext cx="6126480" cy="237744"/>
          </a:xfrm>
          <a:prstGeom prst="roundRect">
            <a:avLst>
              <a:gd name="adj" fmla="val 19231"/>
            </a:avLst>
          </a:prstGeom>
          <a:solidFill>
            <a:srgbClr val="E3E8F0"/>
          </a:solidFill>
          <a:ln/>
        </p:spPr>
      </p:sp>
      <p:sp>
        <p:nvSpPr>
          <p:cNvPr id="39" name="Shape 36"/>
          <p:cNvSpPr/>
          <p:nvPr/>
        </p:nvSpPr>
        <p:spPr>
          <a:xfrm>
            <a:off x="4892040" y="5203698"/>
            <a:ext cx="408432" cy="237744"/>
          </a:xfrm>
          <a:prstGeom prst="roundRect">
            <a:avLst>
              <a:gd name="adj" fmla="val 19231"/>
            </a:avLst>
          </a:prstGeom>
          <a:solidFill>
            <a:srgbClr val="00D9A3"/>
          </a:solidFill>
          <a:ln/>
        </p:spPr>
      </p:sp>
      <p:sp>
        <p:nvSpPr>
          <p:cNvPr id="40" name="Text 37"/>
          <p:cNvSpPr/>
          <p:nvPr/>
        </p:nvSpPr>
        <p:spPr>
          <a:xfrm>
            <a:off x="11128248" y="518541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9265615" y="5669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150 MENIT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 — Pengenalan Perancangan Berorientasi Objek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777240" cy="77724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91805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2194560"/>
            <a:ext cx="9692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Memahami ruang lingkup perancangan berorientasi objek, perbedaannya dengan pendekatan prosedural, serta tren pengembangan perangkat lunak terkini.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Sub-CPMK 21.1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TEORI &amp; KONSEP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11094415" cy="900684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" y="194995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7" name="Text 4"/>
          <p:cNvSpPr/>
          <p:nvPr/>
        </p:nvSpPr>
        <p:spPr>
          <a:xfrm>
            <a:off x="1115568" y="1600200"/>
            <a:ext cx="10271455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prosedural: data dan fungsi/logika terpisah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702052"/>
            <a:ext cx="11094415" cy="900684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49808" y="305181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0" name="Text 7"/>
          <p:cNvSpPr/>
          <p:nvPr/>
        </p:nvSpPr>
        <p:spPr>
          <a:xfrm>
            <a:off x="1115568" y="2702052"/>
            <a:ext cx="10271455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OOP: data (atribut) + perilaku (method) dibungkus dalam satu class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803904"/>
            <a:ext cx="11094415" cy="900684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49808" y="415366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3" name="Text 10"/>
          <p:cNvSpPr/>
          <p:nvPr/>
        </p:nvSpPr>
        <p:spPr>
          <a:xfrm>
            <a:off x="1115568" y="3803904"/>
            <a:ext cx="10271455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pilar OOP akan dipelajari bertahap sepanjang semester — encapsulation dikenalkan minggu ini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4905756"/>
            <a:ext cx="11094415" cy="900684"/>
          </a:xfrm>
          <a:prstGeom prst="roundRect">
            <a:avLst>
              <a:gd name="adj" fmla="val 81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49808" y="5255514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0D9A3"/>
          </a:solidFill>
          <a:ln/>
        </p:spPr>
      </p:sp>
      <p:sp>
        <p:nvSpPr>
          <p:cNvPr id="16" name="Text 13"/>
          <p:cNvSpPr/>
          <p:nvPr/>
        </p:nvSpPr>
        <p:spPr>
          <a:xfrm>
            <a:off x="1115568" y="4905756"/>
            <a:ext cx="10271455" cy="900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 industri terkini: AI-assisted development, arsitektur cloud-native, low-code/no-code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 — Pengenalan Perancangan Berorientasi Objek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 KASUS — SIPUSTAKA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94415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1B2A4A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737360"/>
            <a:ext cx="1036289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Perkenalan studi kasus satu semester: SIPUSTAKA — Sistem Perpustakaan Digital. Semua konsep OOP &amp; UML akan dibangun bertahap di atas studi kasus yang sama ini.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8" name="Image 1" descr="assets/g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90448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3794760"/>
            <a:ext cx="1047262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Perpustakaan Digital — satu studi kasus berkembang bertahap dari Minggu 1 sampai Minggu 16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 — Pengenalan Perancangan Berorientasi Objek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WALKTHROUGH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7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week01-pengenalan-oop/index.js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4415" cy="3794760"/>
          </a:xfrm>
          <a:prstGeom prst="roundRect">
            <a:avLst>
              <a:gd name="adj" fmla="val 1928"/>
            </a:avLst>
          </a:prstGeom>
          <a:solidFill>
            <a:srgbClr val="0F1729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901952"/>
            <a:ext cx="164592" cy="16459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115568" y="1901952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408176" y="1901952"/>
            <a:ext cx="164592" cy="16459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286000"/>
            <a:ext cx="10454335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PeminjamanBuku {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#tarifPerHariTelat = 500;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#batasHariPeminjaman = 7;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hitungDenda() {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telat = Math.max(0, ... );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telat * this.#tarifPerHariTelat;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9E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 — Pengenalan Perancangan Berorientasi Objek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PANDUAN MENJALANKAN CODE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0F1729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92024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node week01-pengenalan-oop/index.js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YANG DIHARAPKAN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11094415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611880"/>
            <a:ext cx="104543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Denda (prosedural): Rp2000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Denda (OOP): Rp2000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 — Pengenalan Perancangan Berorientasi Objek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assets/e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623621"/>
            <a:ext cx="261518" cy="261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02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TUGAS LATIHAN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02920" cy="192024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645920"/>
            <a:ext cx="502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234440" y="1645920"/>
            <a:ext cx="10408615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508760" y="1645920"/>
            <a:ext cx="98599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Tambahkan aturan: buku kategori 'Referensi' -&gt; denda x2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3840480"/>
            <a:ext cx="502920" cy="1920240"/>
          </a:xfrm>
          <a:prstGeom prst="roundRect">
            <a:avLst>
              <a:gd name="adj" fmla="val 14545"/>
            </a:avLst>
          </a:prstGeom>
          <a:solidFill>
            <a:srgbClr val="00D9A3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840480"/>
            <a:ext cx="502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1234440" y="3840480"/>
            <a:ext cx="10408615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508760" y="3840480"/>
            <a:ext cx="985997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Implementasikan aturan yang sama dengan gaya prosedural, bandingkan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 — Pengenalan Perancangan Berorientasi Objek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997135" y="6473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 · TI-306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777240" cy="777240"/>
          </a:xfrm>
          <a:prstGeom prst="ellipse">
            <a:avLst/>
          </a:prstGeom>
          <a:solidFill>
            <a:srgbClr val="00D9A3"/>
          </a:solidFill>
          <a:ln/>
        </p:spPr>
      </p:sp>
      <p:pic>
        <p:nvPicPr>
          <p:cNvPr id="3" name="Image 0" descr="asset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009498"/>
            <a:ext cx="404165" cy="4041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828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20" kern="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MINGGU INI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8640" y="22402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Pengenalan Perancangan Berorientasi Objek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3246120"/>
            <a:ext cx="2194560" cy="0"/>
          </a:xfrm>
          <a:prstGeom prst="line">
            <a:avLst/>
          </a:prstGeom>
          <a:noFill/>
          <a:ln w="25400">
            <a:solidFill>
              <a:srgbClr val="00D9A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8FA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DEPAN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886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Object, Atribut, Method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2026-07-13T15:28:28Z</dcterms:created>
  <dcterms:modified xsi:type="dcterms:W3CDTF">2026-07-13T15:28:28Z</dcterms:modified>
</cp:coreProperties>
</file>